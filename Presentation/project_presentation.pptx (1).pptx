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8F8877-71BB-40A4-93B5-013723FB7311}" v="2" dt="2026-07-14T20:30:09.615"/>
    <p1510:client id="{6DE2C6AA-F509-41E4-8D24-2A18110BA506}" v="2" dt="2026-07-14T20:53:15.465"/>
    <p1510:client id="{7C1D98F3-E776-4E23-B224-72A65D198780}" v="26" dt="2026-07-14T16:57:49.808"/>
    <p1510:client id="{BD117BD9-B789-44A1-B46E-28FEBE546162}" v="16" dt="2026-07-14T20:48:36.642"/>
    <p1510:client id="{D844ACA6-A9B0-48F6-ADD1-1BB0040D9271}" v="290" dt="2026-07-14T20:00:49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712093"/>
      </p:ext>
    </p:extLst>
  </p:cSld>
  <p:clrMapOvr>
    <a:masterClrMapping/>
  </p:clrMapOvr>
  <p:transition spd="slow">
    <p:randomBar dir="vert"/>
  </p:transition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160124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40049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56517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1606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21703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70023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510098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544087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965579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569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894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ransition spd="slow">
    <p:randomBar dir="vert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08363"/>
            <a:ext cx="9136743" cy="65315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Development of Contactless Fuel Payment Card System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4399" y="2208667"/>
            <a:ext cx="7815943" cy="2461305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Prepared by:</a:t>
            </a:r>
          </a:p>
          <a:p>
            <a:r>
              <a:rPr lang="en-US"/>
              <a:t>Iradukunda Denyse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Course: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DPR400210 – Programming Database with Oracle Database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3F618-2E10-598C-D48F-1E43690C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5621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F7A2F-555E-BD51-29B8-98367204A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029" y="1840139"/>
            <a:ext cx="10515600" cy="2449967"/>
          </a:xfrm>
          <a:solidFill>
            <a:schemeClr val="accent2">
              <a:lumMod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Fuel stations need fast and secure payment methods. Traditional cash payments can cause delays and poor transaction management.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This project develops a Contactless Fuel Payment Card System that allows customers to pay for fuel using a card and stores transaction information securely.</a:t>
            </a: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813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E758-09AB-C320-99A1-E0697698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2721571"/>
          </a:xfrm>
        </p:spPr>
        <p:txBody>
          <a:bodyPr>
            <a:normAutofit/>
          </a:bodyPr>
          <a:lstStyle/>
          <a:p>
            <a:r>
              <a:rPr lang="en-US" sz="2000" dirty="0"/>
              <a:t>Problem Statement Many fuel stations face challenges such as: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        . Long waiting time during payment</a:t>
            </a:r>
            <a:br>
              <a:rPr lang="en-US" sz="2000" dirty="0"/>
            </a:br>
            <a:r>
              <a:rPr lang="en-US" sz="2000" dirty="0"/>
              <a:t>         . Poor tracking of fuel transactions </a:t>
            </a:r>
            <a:br>
              <a:rPr lang="en-US" sz="2000" dirty="0"/>
            </a:br>
            <a:r>
              <a:rPr lang="en-US" sz="2000"/>
              <a:t>         . Security problems caused by cash handling Difficulty           managing customer payment records Solution.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A database system that manages contactless fuel card payments securely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7A232-6C2A-1690-18CC-F5E7CF40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D50F-E4A3-42F3-B6F7-3FE8DB25A7BE}" type="datetime1"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C032-1398-5D63-F157-5467C0CB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5DBAC-7587-8DFE-A458-D7A9B7B4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12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22C6-CC0C-ED45-743D-4A62B28F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>
                <a:ea typeface="+mj-lt"/>
                <a:cs typeface="+mj-lt"/>
              </a:rPr>
              <a:t>Project Objectives: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8159-A391-F4FD-4C6F-A39DEB84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6504"/>
            <a:ext cx="10653579" cy="33891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The system aims to: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Store customer information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Manage contactless payment cards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Process fuel payments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Record fuel transactions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Provide auditing and security control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Improve payment speed and accuracy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82EE-57E9-D40D-858A-0C3993B36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CF0A1-A4BF-43E0-96B2-66C28192B60D}" type="datetime1"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150E-DC63-B7DE-E48F-47523272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76E05-3569-54CC-A94E-1047F77F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8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34D32-2522-36C3-B5E2-E222B599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4840657"/>
          </a:xfrm>
        </p:spPr>
        <p:txBody>
          <a:bodyPr/>
          <a:lstStyle/>
          <a:p>
            <a:r>
              <a:rPr lang="en-US" dirty="0"/>
              <a:t>Database desig</a:t>
            </a:r>
            <a:r>
              <a:rPr lang="en-US"/>
              <a:t>n;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48590-F133-B52C-FBBE-1FFE0E896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BD83-CCEF-46F1-9EBF-EE856BF45C0A}" type="datetime1"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C3BDF-EFA6-5CD9-E22E-6DCAC546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CBDC6-CE98-9697-5AB4-B1050404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6EF2D-5714-67A9-772B-BCF39CB4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156" y="-36286"/>
            <a:ext cx="7443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1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73162-53C3-664D-FB30-4FA2BA09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63" y="548640"/>
            <a:ext cx="10689863" cy="5537343"/>
          </a:xfrm>
        </p:spPr>
        <p:txBody>
          <a:bodyPr>
            <a:normAutofit fontScale="90000"/>
          </a:bodyPr>
          <a:lstStyle/>
          <a:p>
            <a:r>
              <a:rPr lang="en-US" sz="2400" b="0">
                <a:ea typeface="+mj-lt"/>
                <a:cs typeface="+mj-lt"/>
              </a:rPr>
              <a:t>Database Security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Implemented triggers: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          1. Audit Trigger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 dirty="0">
                <a:ea typeface="+mj-lt"/>
                <a:cs typeface="+mj-lt"/>
              </a:rPr>
              <a:t>              &gt; Automatically records payment </a:t>
            </a:r>
            <a:r>
              <a:rPr lang="en-US" sz="2400" b="0" dirty="0" err="1">
                <a:ea typeface="+mj-lt"/>
                <a:cs typeface="+mj-lt"/>
              </a:rPr>
              <a:t>activit</a:t>
            </a:r>
            <a:br>
              <a:rPr lang="en-US" sz="2400" b="0" dirty="0">
                <a:ea typeface="+mj-lt"/>
                <a:cs typeface="+mj-lt"/>
              </a:rPr>
            </a:br>
            <a:r>
              <a:rPr lang="en-US" sz="2400" b="0" dirty="0">
                <a:ea typeface="+mj-lt"/>
                <a:cs typeface="+mj-lt"/>
              </a:rPr>
              <a:t>              &gt;Tracks username and date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          2. Restriction Trigger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               &gt; Applies business rules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              &gt;  Controls INSERT, UPDATE, DELETE operations</a:t>
            </a:r>
            <a:endParaRPr lang="en-US" sz="2400"/>
          </a:p>
          <a:p>
            <a:r>
              <a:rPr lang="en-US" sz="2400" b="0" dirty="0">
                <a:ea typeface="+mj-lt"/>
                <a:cs typeface="+mj-lt"/>
              </a:rPr>
              <a:t>               </a:t>
            </a:r>
            <a:r>
              <a:rPr lang="en-US" sz="4800" b="0">
                <a:ea typeface="+mj-lt"/>
                <a:cs typeface="+mj-lt"/>
              </a:rPr>
              <a:t> .</a:t>
            </a:r>
            <a:r>
              <a:rPr lang="en-US" sz="2400" b="0">
                <a:ea typeface="+mj-lt"/>
                <a:cs typeface="+mj-lt"/>
              </a:rPr>
              <a:t>  Security benefits: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              &gt;  Data protection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              &gt;  User activity tracking</a:t>
            </a:r>
            <a:endParaRPr lang="en-US" sz="200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1ED3F-EB42-41CE-587D-C79EE6B42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71F26-FBBF-49F5-9EB0-780D8C0E377D}" type="datetime1"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A4DB6-C6D5-813C-3AE9-9241B497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1618B-5EAD-0EC2-35E8-B007ECB2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58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042E-BB3F-3989-ACAD-8A8D663E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66" y="671354"/>
            <a:ext cx="4501979" cy="34831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200" b="0" kern="1200">
                <a:latin typeface="+mj-lt"/>
                <a:ea typeface="+mj-ea"/>
                <a:cs typeface="+mj-cs"/>
              </a:rPr>
              <a:t>System Results</a:t>
            </a:r>
            <a:br>
              <a:rPr lang="en-US" sz="1200" b="0" kern="1200" dirty="0"/>
            </a:b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The system successfully:</a:t>
            </a:r>
            <a:br>
              <a:rPr lang="en-US" sz="1200" b="0" kern="1200" dirty="0"/>
            </a:b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✓ Creates database tables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✓ Processes fuel payments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✓ Updates card balance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✓ Stores transactions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✓ Records audit information</a:t>
            </a:r>
            <a:br>
              <a:rPr lang="en-US" sz="1200" b="0" kern="1200" dirty="0"/>
            </a:br>
            <a:br>
              <a:rPr lang="en-US" sz="1200" b="0" kern="1200" dirty="0"/>
            </a:br>
            <a:endParaRPr lang="en-US" sz="1200" b="0" kern="1200" dirty="0">
              <a:latin typeface="+mj-lt"/>
            </a:endParaRPr>
          </a:p>
          <a:p>
            <a:r>
              <a:rPr lang="en-US" sz="1200" b="0" u="sng" kern="1200">
                <a:latin typeface="+mj-lt"/>
                <a:ea typeface="+mj-ea"/>
                <a:cs typeface="+mj-cs"/>
              </a:rPr>
              <a:t>Demonstration: </a:t>
            </a:r>
            <a:r>
              <a:rPr lang="en-US" sz="1200" b="0" kern="1200" dirty="0">
                <a:latin typeface="+mj-lt"/>
                <a:ea typeface="+mj-ea"/>
                <a:cs typeface="+mj-cs"/>
              </a:rPr>
              <a:t> </a:t>
            </a:r>
            <a:br>
              <a:rPr lang="en-US" sz="1200" b="0" kern="1200" dirty="0"/>
            </a:b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Execute MAKE_PAYMENT procedure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Display transaction records</a:t>
            </a:r>
            <a:endParaRPr lang="en-US" sz="1200" b="0" kern="1200" dirty="0">
              <a:latin typeface="+mj-lt"/>
            </a:endParaRPr>
          </a:p>
          <a:p>
            <a:r>
              <a:rPr lang="en-US" sz="1200" b="0" kern="1200">
                <a:latin typeface="+mj-lt"/>
                <a:ea typeface="+mj-ea"/>
                <a:cs typeface="+mj-cs"/>
              </a:rPr>
              <a:t>Display audit records</a:t>
            </a:r>
            <a:endParaRPr lang="en-US" sz="1200" b="0" kern="1200" dirty="0">
              <a:latin typeface="+mj-lt"/>
            </a:endParaRPr>
          </a:p>
          <a:p>
            <a:endParaRPr lang="en-US" sz="1200" kern="1200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EB4D8-8860-7F08-4C73-2DC7474EF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3735" y="4299933"/>
            <a:ext cx="4499711" cy="60526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3A45B268-BBDB-4EC6-A664-CED7BF60D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4207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73EA3D-7C96-688D-C13D-15D0EFA7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95" y="696037"/>
            <a:ext cx="762903" cy="1017204"/>
          </a:xfrm>
          <a:prstGeom prst="rect">
            <a:avLst/>
          </a:prstGeom>
        </p:spPr>
      </p:pic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78B55DD-3C55-4B94-9031-4F3723BD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EA3E8A-BC73-E76C-FB74-F1175B7C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6806" y="337711"/>
            <a:ext cx="1659775" cy="2213034"/>
          </a:xfrm>
          <a:prstGeom prst="rect">
            <a:avLst/>
          </a:prstGeom>
        </p:spPr>
      </p:pic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42D9BB05-ED63-4148-87AB-82720ACC3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8614" y="4769536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5B00B48C-8AA7-4128-AD60-76349F0C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6020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65849D-05EA-D97A-0491-225982EC0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02" r="-3" b="30504"/>
          <a:stretch>
            <a:fillRect/>
          </a:stretch>
        </p:blipFill>
        <p:spPr>
          <a:xfrm>
            <a:off x="6338025" y="3261826"/>
            <a:ext cx="1831084" cy="165022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5A74D-5417-E233-557C-914AD576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484" y="6108192"/>
            <a:ext cx="548640" cy="548640"/>
          </a:xfrm>
          <a:prstGeom prst="ellipse">
            <a:avLst/>
          </a:prstGeom>
          <a:solidFill>
            <a:srgbClr val="66445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CC057153-B650-4DEB-B370-79DDCFDCE934}" type="slidenum">
              <a:rPr lang="en-US" sz="1500">
                <a:solidFill>
                  <a:srgbClr val="FFFFFF"/>
                </a:solidFill>
              </a:rPr>
              <a:pPr algn="ctr">
                <a:spcAft>
                  <a:spcPts val="600"/>
                </a:spcAft>
                <a:defRPr/>
              </a:pPr>
              <a:t>7</a:t>
            </a:fld>
            <a:endParaRPr lang="en-US" sz="150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215031-7772-5104-BB53-B0E4F97EF3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32" r="3" b="31559"/>
          <a:stretch>
            <a:fillRect/>
          </a:stretch>
        </p:blipFill>
        <p:spPr>
          <a:xfrm>
            <a:off x="3019853" y="5356746"/>
            <a:ext cx="1452912" cy="130008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AD8D2-48F7-0F7A-664B-AFED50BE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320" y="6199632"/>
            <a:ext cx="2625599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7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0760511E-86BF-4340-9949-CECB774FA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1457207-EAC4-0765-F14F-82000D40A8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6"/>
          <a:srcRect t="4719" r="2" b="26152"/>
          <a:stretch>
            <a:fillRect/>
          </a:stretch>
        </p:blipFill>
        <p:spPr>
          <a:xfrm>
            <a:off x="9797824" y="4773845"/>
            <a:ext cx="1894727" cy="174644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1285C-4333-05F8-81A5-EC852DA9C4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9248" y="6199950"/>
            <a:ext cx="21458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fld id="{B257DB8A-466C-4DD2-8789-E80A4C74B555}" type="datetime1">
              <a:rPr lang="en-US" sz="1100">
                <a:solidFill>
                  <a:schemeClr val="bg1">
                    <a:lumMod val="75000"/>
                    <a:lumOff val="25000"/>
                  </a:schemeClr>
                </a:solidFill>
              </a:rPr>
              <a:pPr algn="r">
                <a:spcAft>
                  <a:spcPts val="600"/>
                </a:spcAft>
                <a:defRPr/>
              </a:pPr>
              <a:t>7/14/2026</a:t>
            </a:fld>
            <a:endParaRPr lang="en-US" sz="11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087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5AAF5-7559-70E5-6737-FC917A4C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772305" y="505240"/>
            <a:ext cx="10653578" cy="21628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83D15-83CD-6507-DB22-DE8C715B8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539875"/>
            <a:ext cx="10653579" cy="57694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CUSTOMER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PAYMENT_CARD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FUEL_TRANSACTION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AUDIT_LOG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HOLIDAY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7E0C7-D4EA-14B5-4DA4-2A17089A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DEA79-0DEF-40A5-802D-54239E2D1777}" type="datetime1">
              <a:t>7/14/2026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37D0A-919B-0335-BB45-E41F273F3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FC15-52DF-2CD2-1F45-A04E2333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464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392B6-A83A-4AC3-D098-3963CFD4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FC8E5-4110-4F3F-AF21-CD76387F8CC8}" type="datetime1">
              <a:t>7/14/2026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92E62-C2B4-9039-A79A-2313FC1B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C2C2-AAC7-0D18-F9A2-97017315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9A140-60B9-3A73-1433-5BBDB6DD44B0}"/>
              </a:ext>
            </a:extLst>
          </p:cNvPr>
          <p:cNvSpPr txBox="1"/>
          <p:nvPr/>
        </p:nvSpPr>
        <p:spPr>
          <a:xfrm>
            <a:off x="3737429" y="823686"/>
            <a:ext cx="6096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Database Implementation Show: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/>
              <a:t>Tables:</a:t>
            </a:r>
          </a:p>
          <a:p>
            <a:r>
              <a:rPr lang="en-US"/>
              <a:t> - CUSTOMER</a:t>
            </a:r>
          </a:p>
          <a:p>
            <a:r>
              <a:rPr lang="en-US"/>
              <a:t> - PAYMENT</a:t>
            </a:r>
          </a:p>
          <a:p>
            <a:r>
              <a:rPr lang="en-US"/>
              <a:t>_CARD</a:t>
            </a:r>
          </a:p>
          <a:p>
            <a:r>
              <a:rPr lang="en-US"/>
              <a:t> - FUEL</a:t>
            </a:r>
          </a:p>
          <a:p>
            <a:r>
              <a:rPr lang="en-US"/>
              <a:t>_TRANSACTION</a:t>
            </a:r>
          </a:p>
          <a:p>
            <a:r>
              <a:rPr lang="en-US"/>
              <a:t> - AUDIT</a:t>
            </a:r>
          </a:p>
          <a:p>
            <a:r>
              <a:rPr lang="en-US"/>
              <a:t>_LOG </a:t>
            </a:r>
          </a:p>
          <a:p>
            <a:r>
              <a:rPr lang="en-US"/>
              <a:t>- HOLIDAY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46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2B89-8BB1-6795-F003-D5766D63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4064143"/>
          </a:xfrm>
        </p:spPr>
        <p:txBody>
          <a:bodyPr/>
          <a:lstStyle/>
          <a:p>
            <a:r>
              <a:rPr lang="en-US" sz="2400" b="0">
                <a:ea typeface="+mj-lt"/>
                <a:cs typeface="+mj-lt"/>
              </a:rPr>
              <a:t>Database Implementation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 b="0" dirty="0"/>
          </a:p>
          <a:p>
            <a:r>
              <a:rPr lang="en-US" sz="2400" b="0">
                <a:ea typeface="+mj-lt"/>
                <a:cs typeface="+mj-lt"/>
              </a:rPr>
              <a:t>Show: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Tables:</a:t>
            </a:r>
            <a:br>
              <a:rPr lang="en-US" sz="2400" b="0" dirty="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- CUSTOMER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- PAYMENT_CARD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- FUEL_TRANSACTION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- AUDIT_LOG</a:t>
            </a:r>
            <a:endParaRPr lang="en-US" sz="2400"/>
          </a:p>
          <a:p>
            <a:r>
              <a:rPr lang="en-US" sz="2400" b="0">
                <a:ea typeface="+mj-lt"/>
                <a:cs typeface="+mj-lt"/>
              </a:rPr>
              <a:t>- HOLIDAY</a:t>
            </a:r>
            <a:endParaRPr lang="en-US" sz="240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999C4-28BF-C3A5-A499-62F58A0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CB335-F95B-4EC0-9255-32CC9180C21D}" type="datetime1">
              <a:t>7/14/2026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56AE6-AA7B-D319-9D2F-70565B3D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20D9-A80C-6CD4-9E82-15927AE9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793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VanillaVTI</vt:lpstr>
      <vt:lpstr>Development of Contactless Fuel Payment Card System   </vt:lpstr>
      <vt:lpstr>Introduction</vt:lpstr>
      <vt:lpstr>Problem Statement Many fuel stations face challenges such as:            . Long waiting time during payment          . Poor tracking of fuel transactions           . Security problems caused by cash handling Difficulty           managing customer payment records Solution.  A database system that manages contactless fuel card payments securely</vt:lpstr>
      <vt:lpstr>Project Objectives:</vt:lpstr>
      <vt:lpstr>Database design;</vt:lpstr>
      <vt:lpstr>Database Security  Implemented triggers:            1. Audit Trigger                &gt; Automatically records payment activit               &gt;Tracks username and date            2. Restriction Trigger                 &gt; Applies business rules               &gt;  Controls INSERT, UPDATE, DELETE operations                 .  Security benefits:                &gt;  Data protection               &gt;  User activity tracking </vt:lpstr>
      <vt:lpstr>System Results  The system successfully:  ✓ Creates database tables ✓ Processes fuel payments ✓ Updates card balance ✓ Stores transactions ✓ Records audit information   Demonstration:    Execute MAKE_PAYMENT procedure Display transaction records Display audit records </vt:lpstr>
      <vt:lpstr>PowerPoint Presentation</vt:lpstr>
      <vt:lpstr>PowerPoint Presentation</vt:lpstr>
      <vt:lpstr>Database Implementation  Show:  Tables:  - CUSTOMER - PAYMENT_CARD - FUEL_TRANSACTION - AUDIT_LOG - HOLIDAY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246</cp:revision>
  <dcterms:created xsi:type="dcterms:W3CDTF">2026-07-14T16:21:49Z</dcterms:created>
  <dcterms:modified xsi:type="dcterms:W3CDTF">2026-07-14T21:00:01Z</dcterms:modified>
</cp:coreProperties>
</file>